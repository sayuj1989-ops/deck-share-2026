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built September 2026 from published evidence; every quantitative claim carries its source on-slide or in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Scoping review of endoscopic spine surgery literature, Global Spine J 2026 (PMC12975538): uniportal 83.9% of studies, transforaminal 50.4% vs interlaminar 30.0%; lumbar disc herniation 47.3% of pathology.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Spine J 2026 scoping review (PMC12975538).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 Clin Med 2025;14(19):6757 — meta-analysis of 87 studies, 3238 patients. Liles 2025 comparative series: opioid use 41.7% endoscopic vs 76.5% open (P=0.119), same neurological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Biportal vs microscopic lumbar decompressive laminectomy RCT (Spine J); e-neurospine 2025 safety profile comparison: BESS comparable to MSS.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Cost-effectiveness of biportal endoscopic spine surgery, Spine J 2026 (S1529943026005851). Liles et al 2025: endoscopic 141.5 vs open 342.8 min; LOS 0 vs 4.9 days; ~7x cost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PMC12050192 network meta-analysis; PMC11604668 BE-TLIF vs PLIF; Spine J systematic review FE-KLIF.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Coffin et al, XSSJ 2025 — first systematic review of ELIF; NOS-graded fair quality; prospective validation called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Neurospine 2025 systematic review (ns-2449086-534); thoracic review jss.amegroups 8034 (to Feb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PMC11622208 learning curve meta-analysis; MDPI J Clin Med 2025;14(24):8926 (cutoff 18.5±9.19 cases); Int J Mol Sci 2024 (80% speed gains over first ~100 cases).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9659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140">
                <a:solidFill>
                  <a:srgbClr val="C15F3C"/>
                </a:solidFill>
                <a:latin typeface="Verdana"/>
              </a:rPr>
              <a:t>EVIDENCE REVIEW ·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95728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0" i="0">
                <a:solidFill>
                  <a:srgbClr val="2A2622"/>
                </a:solidFill>
                <a:latin typeface="Georgia"/>
              </a:rPr>
              <a:t>Full Endoscopic
Spine Surgery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4224528"/>
            <a:ext cx="1005840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5262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 i="0">
                <a:solidFill>
                  <a:srgbClr val="6E665C"/>
                </a:solidFill>
                <a:latin typeface="Verdana"/>
              </a:rPr>
              <a:t>Current evidence and clinical practice
</a:t>
            </a:r>
            <a:r>
              <a:rPr sz="1500" b="1" i="0">
                <a:solidFill>
                  <a:srgbClr val="2A2622"/>
                </a:solidFill>
                <a:latin typeface="Verdana"/>
              </a:rPr>
              <a:t>Dr Sayuj Krishnan · Neurosurgery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Disclosures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Disclosure: No proprietary or industry relationships relevant to this content.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Define the endoscopic spectrum: uniportal (FESS), biportal (UBE/BEDS), and endoscopic fusion (Endo-TLIF, K-LIF, ELIF).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Appraise the 2024–2026 evidence: RCTs, meta-analyses, network meta-analyses, cost-effectiveness.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Apply evidence to indications, patient selection, complications and learning curves.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Identify gaps: what the evidence does NOT yet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Evolution of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1997: Yeung — transforaminal endoscopic spine system (TESSYS).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2000s: Ruetten — full-endoscopic interlaminar discectomy and decompression (FESS).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2010s: Heo / Kim — unilateral biportal endoscopic surgery (UBE/BEDS): standard scope, separate working portal.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2020s: endoscopic fusion matures — Endo-TLIF, trans-Kambin LIF (K-LIF), ELIF; hybrid and navigation-assisted workflows.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Scoping review 2026: 1,193 studies / 877,285 patients — publication volume rising steeply over the last decade.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Technique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Transforaminal (TF) — through Kambin's triangle; best for foraminal/extraforaminal and migrated disc; spine-sparing.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Interlaminar (IL) — via interlaminar window; central/paracentral disc, stenosis; cauda equina risk at L5-S1 with high iliac crest.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Biportal (UBE/BEDS) — viewing + working portal; conventional instruments, larger decompressions; dominant growth area.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Endoscopic fusion — posterior (Endo-TLIF/PLIF), lateral via Kambin's triangle (K-LIF/ELIF); instrumented, standalone or hybrid percutaneous fixation.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Level distribution of the evidence base: lumbar &gt;&gt; cervical &gt; thoracic.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The Evidence Pyramid — State of the Art (2026)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35.3%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of the literature is uncontrolled clinical effectiveness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of studies report PROMs beyond 1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&lt;4%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report cost or learning-curve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10607040" cy="2295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Scoping review 2026: 35.3% of endoscopic spine literature is uncontrolled clinical effectiveness — quality is the field's weak link.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Cost (3.6%) and learning-curve outcomes (4.4%) are the least-reported domains.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But: multiple RCTs and network meta-analyses now exist for discectomy, decompression and fusion.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PROM reporting: 90% capture baselines; only 31% report beyond 1 year — durability data still thin.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Bottom line: equivalence to microsurgery is well-supported; superiority claims are mostly in secondary endpoints.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E665C"/>
                </a:solidFill>
                <a:latin typeface="Verdana"/>
              </a:rPr>
              <a:t>Global Spine J 2026 scoping review (PMC12975538). RCTs and NMA now exist for discectomy, decompression and fusion.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Lumbar Disc Herniation — Discectomy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6309360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Systematic review + meta-analysis 2025 (87 studies, 3,238 patients): endoscopic lumbar discectomy (FELD/BELD) vs open &amp; MIS.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VAS leg pain significantly LOWER for endoscopic at 1 day AND 1 year.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Recurrence and revision rates LOWER than open; dural tear and wound infection trending lower.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Comparable to other MIS techniques (microendoscopic).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45336"/>
            <a:ext cx="3931920" cy="4352544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11096"/>
            <a:ext cx="3291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15F3C"/>
                </a:solidFill>
                <a:latin typeface="Georgia"/>
              </a:rPr>
              <a:t>87 / 3,238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16936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2622"/>
                </a:solidFill>
                <a:latin typeface="Verdana"/>
              </a:rPr>
              <a:t>Studies and patients, 2025 meta-analysis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65576"/>
            <a:ext cx="3291839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65C"/>
                </a:solidFill>
                <a:latin typeface="Verdana"/>
              </a:rPr>
              <a:t>Endoscopic discectomy: VAS leg pain lower at 1 day and 1 year; recurrence and revision lower than open; ~85–95% meaningful improvement at 1–2 years — statistically equivalent to microsurgery.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E665C"/>
                </a:solidFill>
                <a:latin typeface="Verdana"/>
              </a:rPr>
              <a:t>J Clin Med 2025;14(19):6757. Liles 2025: opioid use 41.7% endoscopic vs 76.5%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Discectomy — Why Outcomes Differ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Less muscle disruption / blood loss → lower VAS in the first postoperative days.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Continuous irrigation + angled optics → direct visualization of the fragment and exiting root, less neural retraction.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Day-case / short stay: many series report 0–1.3 days length of stay.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Opioid consumption lower post biportal endoscopic surgery.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Recurrence advantage likely technique-related: endoscopic discectomy is more fragment-selective, preserves annulus and posterior tension band.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Lumbar Stenosis — Decompression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RCTs (biportal vs microscopic laminectomy): equivalent decompression adequacy and clinical outcomes at mid-term follow-up.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Biportal: smaller incision, less blood loss, shorter hospital stay; longer operative time in learning phase.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Safety profile comparable to open/minimally-invasive surgery for disc herniation and stenosis (Neurospine 2025 comparative safety analysis).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Unilateral decompression with bilateral visualization (over-the-top) is a recognized endoscopic strength.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No high-level evidence yet of superiority in PROs at ≥2 years — durability data 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Cost-Effectiveness — A Turning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6309360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2026 trial-based economic evaluation (Spine J): biportal endoscopic spine surgery (BESS) is cost-effective vs microscopic surgery (MSS) for lumbar degenerative disease.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1" i="0">
                <a:solidFill>
                  <a:srgbClr val="2A2622"/>
                </a:solidFill>
                <a:latin typeface="Verdana"/>
              </a:rPr>
              <a:t>Matched comparative series 2025 (thoracic):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open surgery associated with ~7× the cost of endoscopic surgery with comparable outcomes.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1" i="0">
                <a:solidFill>
                  <a:srgbClr val="2A2622"/>
                </a:solidFill>
                <a:latin typeface="Verdana"/>
              </a:rPr>
              <a:t>Drivers: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length of stay, opioid use, rehabilitation time — OR time is often longer for endoscopic.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45336"/>
            <a:ext cx="3931920" cy="4352544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11096"/>
            <a:ext cx="3291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15F3C"/>
                </a:solidFill>
                <a:latin typeface="Georgia"/>
              </a:rPr>
              <a:t>~7×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16936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2622"/>
                </a:solidFill>
                <a:latin typeface="Verdana"/>
              </a:rPr>
              <a:t>Cost of open vs endoscopic surgery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65576"/>
            <a:ext cx="3291839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65C"/>
                </a:solidFill>
                <a:latin typeface="Verdana"/>
              </a:rPr>
              <a:t>Matched thoracic comparative series 2025: OR time 342.8 vs 141.5 min, LOS 4.9 vs 0 days, with comparable outcomes. First trial-based economic evaluation (Spine J 2026) finds BESS cost-effective vs microscopic surgery.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E665C"/>
                </a:solidFill>
                <a:latin typeface="Verdana"/>
              </a:rPr>
              <a:t>Spine J 2026 (S1529943026005851); Liles et al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Endoscopic Fusion — Where the Evidence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Network meta-analysis (Osseous Spine 2025): endoscopic posterolateral/interbody fusion, standalone LLIF, and comparators — no significant difference in pain, disability or adverse events; standalone LLIF best for operative time and LOS.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BE-TLIF vs PLIF: similar clinical and radiologic outcomes; better early postoperative recovery with biportal (2025 comparative study).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FE-KLIF (trans-Kambin) vs PLIF / MIS-TLIF: equivalent fusion rates; feasible and viable.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Systematic review endoscopic vs MIS TLIF: no significant difference in pain scores, complications or fusion rates.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Endoscopic fusion is real, but evidence is mostly retrospective comparative — no mature RCT program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ELIF / Lateral Endoscopic Interbody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First systematic review of ELIF (2025, NASS): 13 studies, 518 patients.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Fusion: open pooled 98%, MIS 84%, endoscopic 100% (single series — interpret cautiously).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Pooled VAS back: 6.49 → 1.66 (Δ 4.83 at ~13 months, endoscopic subgroup).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Pooled ODI: 34.6 → 12.2 (endoscopic subgroup).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Transient radiculopathy 9.5%, dural tear 0.5%.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Requires favorable extraforaminal anatomy + intraoperative nerve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Cervical &amp; Thoracic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Systematic review full-endoscopic cervical surgery (Neurospine 2025): posterior PECF/PECD — VAS 7.8 → ~1.1; shorter stay, less blood loss; short-term safety acceptable.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Single-level full-endoscopic posterior cervical foraminotomy: safe at 12 months (ORR 2025); evidence remains Level IV.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Thoracic (JSS 2026 systematic review): trans-SAP and FESS for TDH/stenomyelopathy show large PROM gains, but Level III–IV only; 4 serious complications in a 41-patient meta-analysis — steep learning curve.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Myelopathy: endoscopic decompression reported even for calcified central discs via transpedicular routes — expert-centre results, not generalizable.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Recurrent Disc Herniation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2025 systematic review (World Neurosurg): recurrent LDH reoperation — full-endoscopic revision offers alternative trajectories and improved visualization of scarred anatomy.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TF approach avoids the posterior scar plane from prior open discectomy.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PROMs after endoscopic revision are comparable to first-time endoscopic surgery in available series.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Still no RCT for revision surgery — selection (central vs foraminal, scar, instability) drives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C15F3C"/>
                </a:solidFill>
                <a:latin typeface="Verdana"/>
              </a:rPr>
              <a:t>THE HONEST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9966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2A2622"/>
                </a:solidFill>
                <a:latin typeface="Georgia"/>
              </a:rPr>
              <a:t>Complication profile: comparable to microsurgery in rate — different in distribution, not absent.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709160"/>
            <a:ext cx="99669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Dural tear: rare in disc surgery; higher in endoscopic stenosis work than in open series with senior hands.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Nerve root injury / transient dysesthesia: characteristic of TF approach (exiting root) — most transient.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Infection: discitis reported; continuous irrigation is protective when pressure is controlled.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Irrigation-related risks: raised intracanal pressure, and rare tamponade / intracranial pressure events in cervical &amp; thoracic work.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Thoracic series: paralysis, CSF leak, infection reported — do not dilute indications during the learning curve.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Learning Curve — The Hidden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30–50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supervised cases before independent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18.5 ± 9.2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cases per surgeon to LIF proficiency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1591056"/>
            <a:ext cx="3364991" cy="1691640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47088"/>
            <a:ext cx="29077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15F3C"/>
                </a:solidFill>
                <a:latin typeface="Georgia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70048"/>
            <a:ext cx="29077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A2622"/>
                </a:solidFill>
                <a:latin typeface="Verdana"/>
              </a:rPr>
              <a:t>of operative-time gain arrives late in the cumulative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10607040" cy="2295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Meta-analysis of learning curves (2024): most rapid improvement in the first phase; roughly 30–50 supervised cases before independent TF discectomy.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Large registry analysis: 80% of operative-time improvement arrives only after a long cumulative series.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Full-endoscopic LIF proficiency cut-off ≈ 18.5 ± 9.2 cases per surgeon (2025 meta-analysis) — after prior endoscopic experience.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Complication rates fall with the curve; conversion-to-open rate is the honest metric to track.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00" b="0" i="0">
                <a:solidFill>
                  <a:srgbClr val="2A2622"/>
                </a:solidFill>
                <a:latin typeface="Verdana"/>
              </a:rPr>
              <a:t>Training: cadastre + simulation + proctored live cases; logbook-level case tracking is now standard of care in fellowship programmes.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E665C"/>
                </a:solidFill>
                <a:latin typeface="Verdana"/>
              </a:rPr>
              <a:t>Learning-curve meta-analysis 2024 (PMC11622208); J Clin Med 2025;14(24):8926; Int J Mol Sci 2024.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Technology Horizons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6309360" cy="4352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1" i="0">
                <a:solidFill>
                  <a:srgbClr val="2A2622"/>
                </a:solidFill>
                <a:latin typeface="Verdana"/>
              </a:rPr>
              <a:t>Navigation- and robotics-assisted endoscopy: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portal planning for Kambin's triangle and pedicle-based fusion.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3D/4K/4K-3D fluorescence and IONM-integrated workflows for lateral endoscopic fusion.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Unilateral biportal as the workhorse platform for decompression; endoscopic fusion expanding indications to low-grade spondylolisthesis.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350" b="1" i="0">
                <a:solidFill>
                  <a:srgbClr val="2A2622"/>
                </a:solidFill>
                <a:latin typeface="Verdana"/>
              </a:rPr>
              <a:t>Hybrid endoscopic-open surgery:  </a:t>
            </a:r>
            <a:r>
              <a:rPr sz="1350" b="0" i="0">
                <a:solidFill>
                  <a:srgbClr val="2A2622"/>
                </a:solidFill>
                <a:latin typeface="Verdana"/>
              </a:rPr>
              <a:t>endoscopic decompression + percutaneous instrumentation.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45336"/>
            <a:ext cx="3931920" cy="4352544"/>
          </a:xfrm>
          <a:prstGeom prst="roundRect">
            <a:avLst>
              <a:gd name="adj" fmla="val 4500"/>
            </a:avLst>
          </a:prstGeom>
          <a:solidFill>
            <a:srgbClr val="EFE9DF"/>
          </a:solidFill>
          <a:ln w="9525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11096"/>
            <a:ext cx="3291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15F3C"/>
                </a:solidFill>
                <a:latin typeface="Georgia"/>
              </a:rPr>
              <a:t>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16936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2622"/>
                </a:solidFill>
                <a:latin typeface="Verdana"/>
              </a:rPr>
              <a:t>Where the technology is going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65576"/>
            <a:ext cx="3291839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65C"/>
                </a:solidFill>
                <a:latin typeface="Verdana"/>
              </a:rPr>
              <a:t>Navigation, robotics and AI-assisted workflows are converging on the endoscopic corridor — the bottleneck is evidence, not instruments.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Patient Selection — Evidence-Guided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Best supported: unilesional radicular LDH (foraminal/extraforaminal → TF; central/paracentral → IL or biportal).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Stenosis with radiculopathy ± neurogenic claudication: biportal decompression where surgeon volume supports it.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Spondylolisthesis/instability requiring fusion: endoscopic fusion equivalent only in experienced hands; MIS-TLIF remains the benchmark.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Red flags, progressive deficit, cauda equina: operate promptly — approach by your highest-volume technique.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Central calcified thoracic discs and severe osteoporotic stenosis: expert centres, not day-surgery programmes.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400" b="0" i="0">
                <a:solidFill>
                  <a:srgbClr val="2A2622"/>
                </a:solidFill>
                <a:latin typeface="Verdana"/>
              </a:rPr>
              <a:t>Contraindications: inability to tolerate positioning/irrigation; obliterated foramen without alternative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C15F3C"/>
                </a:solidFill>
                <a:latin typeface="Verdana"/>
              </a:rPr>
              <a:t>WHERE THE EVIDENCE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9966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2A2622"/>
                </a:solidFill>
                <a:latin typeface="Georgia"/>
              </a:rPr>
              <a:t>Claims the current evidence does NOT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709160"/>
            <a:ext cx="99669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Superiority of endoscopic over microsurgery in validated long-term PROs — equivalence, not superiority.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Endoscopic surgery for multilevel disease, deformity, or high-grade instability as routine.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Cost savings claimed outside trial-based evaluations (OR time can erase LOS savings).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Any specific implant/cage platform advantage — no comparative evidence.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Wide expansion of indications during the learning curve — the complication data are the 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C15F3C"/>
                </a:solidFill>
                <a:latin typeface="Verdana"/>
              </a:rPr>
              <a:t>PRACTICAL TAKE-HOME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9966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2A2622"/>
                </a:solidFill>
                <a:latin typeface="Georgia"/>
              </a:rPr>
              <a:t>Five things to carry out of this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709160"/>
            <a:ext cx="99669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1. Endoscopic discectomy: equivalent-to-better pain and recurrence vs open; lowest tissue trauma; day-case pathway.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2. Biportal decompression: equal outcomes to microscopic with faster recovery; now cost-effective on trial-level health economics.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3. Endoscopic fusion: equivalent fusion and PROMs in comparative series — volume and mentorship decide safety.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4. Respect the learning curve — it is the strongest predictor of both outcomes and complications.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50" b="0" i="0">
                <a:solidFill>
                  <a:srgbClr val="2A2622"/>
                </a:solidFill>
                <a:latin typeface="Verdana"/>
              </a:rPr>
              <a:t>5. Long-term PROMs, cost, and training-outcome data remain the field's evidence gaps — contribute to registries.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2A2622"/>
                </a:solidFill>
                <a:latin typeface="Georgia"/>
              </a:rPr>
              <a:t>Key References (2024–2026)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5"/>
            <a:ext cx="566928" cy="27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07040" cy="448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Endoscopic Spine Surgery: A Scoping Review. Global Spine J 2026. PMC12975538 — 1,193 studies, 877,285 patients.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Systematic Review &amp; Meta-analysis: Endoscopic vs non-endoscopic Lumbar Discectomy. J Clin Med 2025;14:6757 — 87 studies, 3,238 patients.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Cost-effectiveness of Biportal Endoscopic Spine Surgery. Spine J 2026 (trial-based economic evaluation).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Comparison of clinical and radiologic outcomes BE-TLIF vs PLIF. 2025. PMC11604668.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Outcomes of Endoscopic Posterolateral/Interbody Fusion — network meta-analysis. Osseous Spine 2025. PMC12050192.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Coffin et al. Extraforaminal LIF: first systematic review. XSSJ 2025 — 518 patients.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Clinical Outcomes in Full Endoscopic Cervical Surgery: Systematic Review. Neurospine 2025.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Thoracic Endoscopic Spine Surgery: Systematic Review. J Spine Surg 2026 (search to Feb 2026).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 i="0">
                <a:solidFill>
                  <a:srgbClr val="C15F3C"/>
                </a:solidFill>
                <a:latin typeface="Verdana"/>
              </a:rPr>
              <a:t>—  </a:t>
            </a:r>
            <a:r>
              <a:rPr sz="1100" b="0" i="0">
                <a:solidFill>
                  <a:srgbClr val="2A2622"/>
                </a:solidFill>
                <a:latin typeface="Verdana"/>
              </a:rPr>
              <a:t>Meta-analysis of Learning Curve in Endoscopic Spinal Surgery. 2024. PMC11622208; ELIF learning curve JCM 2025;14:8926.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665C"/>
                </a:solidFill>
                <a:latin typeface="Verdana"/>
              </a:rPr>
              <a:t>Full Endoscopic Spine Surgery · Current Evidence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665C"/>
                </a:solidFill>
                <a:latin typeface="Verdana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